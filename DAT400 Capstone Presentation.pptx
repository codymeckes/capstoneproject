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65" r:id="rId3"/>
    <p:sldId id="266" r:id="rId4"/>
    <p:sldId id="275" r:id="rId5"/>
    <p:sldId id="267" r:id="rId6"/>
    <p:sldId id="270" r:id="rId7"/>
    <p:sldId id="274" r:id="rId8"/>
    <p:sldId id="271" r:id="rId9"/>
    <p:sldId id="272" r:id="rId10"/>
    <p:sldId id="268" r:id="rId11"/>
    <p:sldId id="257" r:id="rId12"/>
    <p:sldId id="258" r:id="rId13"/>
    <p:sldId id="259" r:id="rId14"/>
    <p:sldId id="263" r:id="rId15"/>
    <p:sldId id="261" r:id="rId16"/>
    <p:sldId id="262" r:id="rId17"/>
    <p:sldId id="264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4" autoAdjust="0"/>
    <p:restoredTop sz="64439" autoAdjust="0"/>
  </p:normalViewPr>
  <p:slideViewPr>
    <p:cSldViewPr snapToGrid="0">
      <p:cViewPr varScale="1">
        <p:scale>
          <a:sx n="61" d="100"/>
          <a:sy n="61" d="100"/>
        </p:scale>
        <p:origin x="142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53560-FC42-4591-AD96-A7660BE0F22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E0B91-0AC3-43DE-AF76-7BEE437EF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963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E0B91-0AC3-43DE-AF76-7BEE437EFE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79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Docker Compose file created my local analytics environment by running PostgreSQL for data storage and Metabase for visualization, while mapping the ports so I could connect through Python, DataGrip, and the browser.”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E0B91-0AC3-43DE-AF76-7BEE437EFE1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81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import the necessary libraries, define where my raw and cleaned data will be stored, and ensure the output folder exists.</a:t>
            </a:r>
            <a:br>
              <a:rPr lang="en-US" dirty="0"/>
            </a:br>
            <a:r>
              <a:rPr lang="en-US" dirty="0"/>
              <a:t>Then I create a dictionary that maps each CSV file to its corresponding ticker symbol, which allows me to label each dataset consistently during processing.”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E0B91-0AC3-43DE-AF76-7BEE437EFE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30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is the core data cleaning step.</a:t>
            </a:r>
            <a:br>
              <a:rPr lang="en-US" dirty="0"/>
            </a:br>
            <a:r>
              <a:rPr lang="en-US" dirty="0"/>
              <a:t>I loop through each stock dataset, read it into Python, and standardize the structure by cleaning column names and converting the date field.</a:t>
            </a:r>
            <a:br>
              <a:rPr lang="en-US" dirty="0"/>
            </a:br>
            <a:r>
              <a:rPr lang="en-US" dirty="0"/>
              <a:t>I also add a ticker column so all datasets can later be combined into a single table.</a:t>
            </a:r>
            <a:br>
              <a:rPr lang="en-US" dirty="0"/>
            </a:br>
            <a:r>
              <a:rPr lang="en-US" dirty="0"/>
              <a:t>Then I select only the relevant fields for analysis and export cleaned versions of each dataset.</a:t>
            </a:r>
            <a:br>
              <a:rPr lang="en-US" dirty="0"/>
            </a:br>
            <a:r>
              <a:rPr lang="en-US" dirty="0"/>
              <a:t>I apply the same process to the macroeconomic data to ensure consistency across all sources.”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E0B91-0AC3-43DE-AF76-7BEE437EFE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94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use </a:t>
            </a:r>
            <a:r>
              <a:rPr lang="en-US" dirty="0" err="1"/>
              <a:t>SQLAlchemy</a:t>
            </a:r>
            <a:r>
              <a:rPr lang="en-US" dirty="0"/>
              <a:t> to create an engine that allows Python to communicate directly with the database running in Docker.</a:t>
            </a:r>
            <a:br>
              <a:rPr lang="en-US" dirty="0"/>
            </a:br>
            <a:r>
              <a:rPr lang="en-US" dirty="0"/>
              <a:t>The connection string includes the database credentials, port, and database name.</a:t>
            </a:r>
            <a:br>
              <a:rPr lang="en-US" dirty="0"/>
            </a:br>
            <a:r>
              <a:rPr lang="en-US" dirty="0"/>
              <a:t>This step is important because it allows me to move from data cleaning into structured storage and SQL-based analysis.”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E0B91-0AC3-43DE-AF76-7BEE437EFE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89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 loop through each stock dataset again, clean them consistently, and store them in a list.</a:t>
            </a:r>
            <a:br>
              <a:rPr lang="en-US" dirty="0"/>
            </a:br>
            <a:r>
              <a:rPr lang="en-US" dirty="0"/>
              <a:t>Then I use pandas to concatenate all datasets into a single </a:t>
            </a:r>
            <a:r>
              <a:rPr lang="en-US" dirty="0" err="1"/>
              <a:t>dataframe</a:t>
            </a:r>
            <a:r>
              <a:rPr lang="en-US" dirty="0"/>
              <a:t>, which allows me to analyze all banks together.</a:t>
            </a:r>
            <a:br>
              <a:rPr lang="en-US" dirty="0"/>
            </a:br>
            <a:r>
              <a:rPr lang="en-US" dirty="0"/>
              <a:t>After that, I load the data into PostgreSQL as a structured table called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stock_data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 repeat a similar process for the macroeconomic data and store it in a separate table called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market_indicators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At this point, the data is fully structured and ready for SQL analysis and visualization.”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E0B91-0AC3-43DE-AF76-7BEE437EFE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21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E0B91-0AC3-43DE-AF76-7BEE437EFE1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658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E0B91-0AC3-43DE-AF76-7BEE437EFE1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54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480-8BA3-4A90-A953-1354791BD04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0DE8-6B26-4CCE-8CA6-59372502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385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480-8BA3-4A90-A953-1354791BD04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0DE8-6B26-4CCE-8CA6-59372502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72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480-8BA3-4A90-A953-1354791BD04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0DE8-6B26-4CCE-8CA6-59372502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44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480-8BA3-4A90-A953-1354791BD04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0DE8-6B26-4CCE-8CA6-59372502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727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480-8BA3-4A90-A953-1354791BD04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0DE8-6B26-4CCE-8CA6-59372502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3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480-8BA3-4A90-A953-1354791BD04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0DE8-6B26-4CCE-8CA6-59372502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4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480-8BA3-4A90-A953-1354791BD04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0DE8-6B26-4CCE-8CA6-59372502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89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480-8BA3-4A90-A953-1354791BD04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0DE8-6B26-4CCE-8CA6-59372502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56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480-8BA3-4A90-A953-1354791BD04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0DE8-6B26-4CCE-8CA6-59372502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77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480-8BA3-4A90-A953-1354791BD04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0DE8-6B26-4CCE-8CA6-59372502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18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480-8BA3-4A90-A953-1354791BD04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0DE8-6B26-4CCE-8CA6-5937250247E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7020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480-8BA3-4A90-A953-1354791BD04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0DE8-6B26-4CCE-8CA6-59372502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58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480-8BA3-4A90-A953-1354791BD04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0DE8-6B26-4CCE-8CA6-5937250247E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9353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480-8BA3-4A90-A953-1354791BD04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0DE8-6B26-4CCE-8CA6-59372502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7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480-8BA3-4A90-A953-1354791BD04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0DE8-6B26-4CCE-8CA6-59372502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3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AE480-8BA3-4A90-A953-1354791BD04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0DE8-6B26-4CCE-8CA6-59372502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88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AE480-8BA3-4A90-A953-1354791BD04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6850DE8-6B26-4CCE-8CA6-593725024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359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quidbob/2023-collapsed-banks-stock-prices-2017-2023?select=CS.csv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sai14karthik/nasdq-dataset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C6A09-D589-8805-1C8E-1F39FC366C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Driven Analysis of The Silicon Valley Bank Collapse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1C1D5-EECA-A9F5-FFB5-044DE4BB6E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Cody Meckes</a:t>
            </a:r>
          </a:p>
          <a:p>
            <a:r>
              <a:rPr lang="en-US" dirty="0"/>
              <a:t>DAT400 </a:t>
            </a:r>
          </a:p>
          <a:p>
            <a:r>
              <a:rPr lang="en-US" dirty="0"/>
              <a:t>5/6/26</a:t>
            </a:r>
          </a:p>
        </p:txBody>
      </p:sp>
    </p:spTree>
    <p:extLst>
      <p:ext uri="{BB962C8B-B14F-4D97-AF65-F5344CB8AC3E}">
        <p14:creationId xmlns:p14="http://schemas.microsoft.com/office/powerpoint/2010/main" val="3910999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35825-C264-1240-311A-5907021B5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A7A3A-95EA-2B07-A84E-7A0B90546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195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What caused the Silicon Valley Bank (SVB) Collapse?</a:t>
            </a:r>
          </a:p>
          <a:p>
            <a:pPr lvl="1"/>
            <a:r>
              <a:rPr lang="en-US" dirty="0"/>
              <a:t>Collapse Window (March 8</a:t>
            </a:r>
            <a:r>
              <a:rPr lang="en-US" baseline="30000" dirty="0"/>
              <a:t>th</a:t>
            </a:r>
            <a:r>
              <a:rPr lang="en-US" dirty="0"/>
              <a:t> - 13</a:t>
            </a:r>
            <a:r>
              <a:rPr lang="en-US" baseline="30000" dirty="0"/>
              <a:t>th</a:t>
            </a:r>
            <a:r>
              <a:rPr lang="en-US" dirty="0"/>
              <a:t>, 2023) </a:t>
            </a:r>
          </a:p>
          <a:p>
            <a:pPr lvl="1"/>
            <a:r>
              <a:rPr lang="en-US" dirty="0"/>
              <a:t>External Factors?</a:t>
            </a:r>
          </a:p>
          <a:p>
            <a:pPr lvl="1"/>
            <a:r>
              <a:rPr lang="en-US" dirty="0"/>
              <a:t>Internal Factors?</a:t>
            </a:r>
          </a:p>
          <a:p>
            <a:pPr lvl="1"/>
            <a:r>
              <a:rPr lang="en-US" dirty="0"/>
              <a:t>Loss in investor/customer confidence?</a:t>
            </a:r>
          </a:p>
          <a:p>
            <a:r>
              <a:rPr lang="en-US" dirty="0"/>
              <a:t>How did the failure impact:</a:t>
            </a:r>
          </a:p>
          <a:p>
            <a:pPr lvl="1"/>
            <a:r>
              <a:rPr lang="en-US" dirty="0"/>
              <a:t>Competing banks</a:t>
            </a:r>
          </a:p>
          <a:p>
            <a:pPr lvl="1"/>
            <a:r>
              <a:rPr lang="en-US" dirty="0"/>
              <a:t>Broader financial markets</a:t>
            </a:r>
          </a:p>
          <a:p>
            <a:r>
              <a:rPr lang="en-US" dirty="0"/>
              <a:t>Data Used (sourced from Kaggle):</a:t>
            </a:r>
          </a:p>
          <a:p>
            <a:pPr lvl="1"/>
            <a:r>
              <a:rPr lang="en-US" dirty="0"/>
              <a:t>SVB + competing banks stock data</a:t>
            </a:r>
          </a:p>
          <a:p>
            <a:pPr lvl="1"/>
            <a:r>
              <a:rPr lang="en-US" dirty="0"/>
              <a:t>Market Data (Interest Rates, Volatility Index)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E37981-6B9C-D4DD-9556-4C56ED4AD1CB}"/>
              </a:ext>
            </a:extLst>
          </p:cNvPr>
          <p:cNvSpPr txBox="1"/>
          <p:nvPr/>
        </p:nvSpPr>
        <p:spPr>
          <a:xfrm>
            <a:off x="475989" y="6334780"/>
            <a:ext cx="10368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3"/>
              </a:rPr>
              <a:t>https://www.kaggle.com/datasets/squidbob/2023-collapsed-banks-stock-prices-2017-2023?select=CS.csv</a:t>
            </a:r>
            <a:endParaRPr lang="en-US" sz="1400" dirty="0"/>
          </a:p>
          <a:p>
            <a:r>
              <a:rPr lang="en-US" sz="1400" dirty="0">
                <a:hlinkClick r:id="rId4"/>
              </a:rPr>
              <a:t>https://www.kaggle.com/datasets/sai14karthik/nasdq-dataset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550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5D3B4-C040-34C4-80EF-34B93B2CE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Company Background/Predetermined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F1486-D6B8-9F10-B220-34081F6C7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Focused on venture capital and startups.</a:t>
            </a:r>
          </a:p>
          <a:p>
            <a:r>
              <a:rPr lang="en-US" dirty="0"/>
              <a:t>Heavy Investments in long-term securities.</a:t>
            </a:r>
          </a:p>
          <a:p>
            <a:pPr lvl="1"/>
            <a:r>
              <a:rPr lang="en-US" dirty="0"/>
              <a:t>United States Treasury Bonds</a:t>
            </a:r>
          </a:p>
          <a:p>
            <a:pPr lvl="2"/>
            <a:r>
              <a:rPr lang="en-US" dirty="0"/>
              <a:t>Interest Rates reduce bond value</a:t>
            </a:r>
          </a:p>
          <a:p>
            <a:pPr lvl="1"/>
            <a:r>
              <a:rPr lang="en-US" dirty="0"/>
              <a:t>Highly sensitive to changes in Interest Rates</a:t>
            </a:r>
          </a:p>
          <a:p>
            <a:r>
              <a:rPr lang="en-US" dirty="0"/>
              <a:t>Unrealized losses built up on SVB’s balance sheet</a:t>
            </a:r>
          </a:p>
          <a:p>
            <a:r>
              <a:rPr lang="en-US" dirty="0"/>
              <a:t>After assets lost value, bank could not meet customer withdrawal demands.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B7562E-0F56-D9C8-5D34-A6E13FD87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89" y="5230394"/>
            <a:ext cx="10206635" cy="118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874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A806A-25E6-343B-67A7-D0F0DF598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9A21F-048D-26E1-BBC3-C46667F91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Project Flow – After Finding Stock/Market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9A4A8-B76E-EA3F-C043-3602B1DB7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Setup Repo + Connect to local folder</a:t>
            </a:r>
          </a:p>
          <a:p>
            <a:r>
              <a:rPr lang="en-US" dirty="0"/>
              <a:t>Setup Docker + Metabase</a:t>
            </a:r>
          </a:p>
          <a:p>
            <a:r>
              <a:rPr lang="en-US" dirty="0"/>
              <a:t>Python Data Cleaning/Sorting</a:t>
            </a:r>
          </a:p>
          <a:p>
            <a:r>
              <a:rPr lang="en-US" dirty="0"/>
              <a:t>Create PostgreSQL engine </a:t>
            </a:r>
          </a:p>
          <a:p>
            <a:r>
              <a:rPr lang="en-US" dirty="0"/>
              <a:t>Load Database into Datagrip</a:t>
            </a:r>
          </a:p>
          <a:p>
            <a:r>
              <a:rPr lang="en-US" dirty="0"/>
              <a:t>Setup Metabase dashboard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274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C8FC5-C922-709A-07F3-4E4CCA767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– Docker/Metabase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B0F4E-46E2-C99F-76C3-3D63CC665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18657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Created the docker compose file.</a:t>
            </a:r>
          </a:p>
          <a:p>
            <a:pPr lvl="1"/>
            <a:r>
              <a:rPr lang="en-US" sz="2800" dirty="0"/>
              <a:t>Setup user, password, port, and volumes to keep running.</a:t>
            </a:r>
          </a:p>
          <a:p>
            <a:pPr lvl="1"/>
            <a:r>
              <a:rPr lang="en-US" sz="2800" dirty="0"/>
              <a:t>Created the /</a:t>
            </a:r>
            <a:r>
              <a:rPr lang="en-US" sz="2800" dirty="0" err="1"/>
              <a:t>init</a:t>
            </a:r>
            <a:r>
              <a:rPr lang="en-US" sz="2800" dirty="0"/>
              <a:t> folder to create the database.</a:t>
            </a:r>
          </a:p>
          <a:p>
            <a:pPr lvl="1"/>
            <a:r>
              <a:rPr lang="en-US" sz="2800" dirty="0"/>
              <a:t>Created the Metabase container.</a:t>
            </a:r>
          </a:p>
          <a:p>
            <a:pPr lvl="1"/>
            <a:r>
              <a:rPr lang="en-US" sz="2800" dirty="0"/>
              <a:t>This connects the database through Python, Datagrip, and a browser for Metabase.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7BE29A-82A8-9C28-6598-3AF20C9CC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57" y="1804378"/>
            <a:ext cx="4391638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94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61BC-1983-36FA-37F6-BF7735747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D064B-B69C-0B75-4A20-F70596462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–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9FCDC-5BDF-8F3E-76C4-F5B5069D2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8667" y="1901599"/>
            <a:ext cx="4631871" cy="3829730"/>
          </a:xfrm>
        </p:spPr>
        <p:txBody>
          <a:bodyPr/>
          <a:lstStyle/>
          <a:p>
            <a:r>
              <a:rPr lang="en-US" dirty="0"/>
              <a:t>Sets up folder for data pipeline.</a:t>
            </a:r>
          </a:p>
          <a:p>
            <a:r>
              <a:rPr lang="en-US" dirty="0"/>
              <a:t>Imported pandas and os to handle processing.</a:t>
            </a:r>
          </a:p>
          <a:p>
            <a:r>
              <a:rPr lang="en-US" dirty="0"/>
              <a:t>Defined folders for data and cleaned data.</a:t>
            </a:r>
          </a:p>
          <a:p>
            <a:r>
              <a:rPr lang="en-US" dirty="0"/>
              <a:t>Maps files to tickers.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4955C9-4040-1DCD-AC32-0C8FCCFEB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63" y="1901599"/>
            <a:ext cx="4842337" cy="382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68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4B3E9-B428-1F64-B926-B03A3EFAC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D8B50-A5BB-B371-27DC-595C48250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–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7DBB7-E481-71E2-3608-9884D1029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713"/>
            <a:ext cx="4093027" cy="4141333"/>
          </a:xfrm>
        </p:spPr>
        <p:txBody>
          <a:bodyPr/>
          <a:lstStyle/>
          <a:p>
            <a:r>
              <a:rPr lang="en-US" dirty="0"/>
              <a:t>Reads all csv files.</a:t>
            </a:r>
          </a:p>
          <a:p>
            <a:r>
              <a:rPr lang="en-US" dirty="0"/>
              <a:t>Cleans/Standardizes columns (ex. Date).</a:t>
            </a:r>
          </a:p>
          <a:p>
            <a:r>
              <a:rPr lang="en-US" dirty="0"/>
              <a:t>Adds a ticker columns for each dataset.</a:t>
            </a:r>
          </a:p>
          <a:p>
            <a:r>
              <a:rPr lang="en-US" dirty="0"/>
              <a:t>Keeps relevant columns only.</a:t>
            </a:r>
          </a:p>
          <a:p>
            <a:r>
              <a:rPr lang="en-US" dirty="0"/>
              <a:t>Saves cleaned files to output folder.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791731-E9B8-4DB7-3A71-86D5DDA33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227" y="1690688"/>
            <a:ext cx="6954012" cy="396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756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FCA25-7C9C-3994-39A5-33C77D0EA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06894-50A9-79EF-E519-FCB8C1EA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– PostgreSQL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A83CF-532E-3388-BFDF-69E065F12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73391" cy="4351338"/>
          </a:xfrm>
        </p:spPr>
        <p:txBody>
          <a:bodyPr/>
          <a:lstStyle/>
          <a:p>
            <a:r>
              <a:rPr lang="en-US" dirty="0"/>
              <a:t>Imports </a:t>
            </a:r>
            <a:r>
              <a:rPr lang="en-US" dirty="0" err="1"/>
              <a:t>SQLAlchemy</a:t>
            </a:r>
            <a:endParaRPr lang="en-US" dirty="0"/>
          </a:p>
          <a:p>
            <a:r>
              <a:rPr lang="en-US" dirty="0"/>
              <a:t>Creates the database engine.</a:t>
            </a:r>
          </a:p>
          <a:p>
            <a:pPr lvl="1"/>
            <a:r>
              <a:rPr lang="en-US" dirty="0"/>
              <a:t>Allows communication with Docker.</a:t>
            </a:r>
          </a:p>
          <a:p>
            <a:r>
              <a:rPr lang="en-US" dirty="0"/>
              <a:t>Stores data after cleaning.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D3CBC9-B860-0FAA-777B-62CF146A7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726" y="2591397"/>
            <a:ext cx="7516274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14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5B93-0BF2-CC28-247A-153F9CF26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F84F2-E290-EDE8-487B-A8027CD0A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– PostgreSQL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3A969-31C1-4744-89EF-7AC23BE34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7"/>
            <a:ext cx="5215333" cy="4802187"/>
          </a:xfrm>
        </p:spPr>
        <p:txBody>
          <a:bodyPr>
            <a:normAutofit/>
          </a:bodyPr>
          <a:lstStyle/>
          <a:p>
            <a:r>
              <a:rPr lang="en-US" dirty="0"/>
              <a:t>Creates an </a:t>
            </a:r>
            <a:r>
              <a:rPr lang="en-US" dirty="0" err="1"/>
              <a:t>all_stocks</a:t>
            </a:r>
            <a:r>
              <a:rPr lang="en-US" dirty="0"/>
              <a:t> list.</a:t>
            </a:r>
          </a:p>
          <a:p>
            <a:r>
              <a:rPr lang="en-US" dirty="0"/>
              <a:t>Loops through each file.</a:t>
            </a:r>
          </a:p>
          <a:p>
            <a:r>
              <a:rPr lang="en-US" dirty="0"/>
              <a:t>Combines all datasets</a:t>
            </a:r>
          </a:p>
          <a:p>
            <a:r>
              <a:rPr lang="en-US" dirty="0"/>
              <a:t>Loads into PostgreSQL (</a:t>
            </a:r>
            <a:r>
              <a:rPr lang="en-US" dirty="0" err="1"/>
              <a:t>stock_df.to_sql</a:t>
            </a:r>
            <a:r>
              <a:rPr lang="en-US" dirty="0"/>
              <a:t>)</a:t>
            </a:r>
          </a:p>
          <a:p>
            <a:r>
              <a:rPr lang="en-US" dirty="0"/>
              <a:t>Processes Market data.</a:t>
            </a:r>
          </a:p>
          <a:p>
            <a:pPr lvl="1"/>
            <a:r>
              <a:rPr lang="en-US" dirty="0"/>
              <a:t>Nasdaq data</a:t>
            </a:r>
          </a:p>
          <a:p>
            <a:r>
              <a:rPr lang="en-US" dirty="0"/>
              <a:t>Loads market data into PostgreSQL.</a:t>
            </a:r>
          </a:p>
          <a:p>
            <a:pPr lvl="1"/>
            <a:r>
              <a:rPr lang="en-US" dirty="0"/>
              <a:t>Saves as table (</a:t>
            </a:r>
            <a:r>
              <a:rPr lang="en-US" dirty="0" err="1"/>
              <a:t>market_indicators</a:t>
            </a:r>
            <a:r>
              <a:rPr lang="en-US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7E9D52-BF81-86E2-793F-CF0942517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72373"/>
            <a:ext cx="5215334" cy="482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37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82F76-2A86-9525-98DD-302CD3B77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4C891-FB37-520D-A589-291935C89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DataGrip – Data/Sanity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34A5-D08A-C61A-962C-76DB7F79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583089"/>
          </a:xfrm>
        </p:spPr>
        <p:txBody>
          <a:bodyPr/>
          <a:lstStyle/>
          <a:p>
            <a:r>
              <a:rPr lang="en-US"/>
              <a:t>Checked that data successfully loaded into SQL</a:t>
            </a:r>
          </a:p>
          <a:p>
            <a:r>
              <a:rPr lang="en-US"/>
              <a:t>Tested SQL queries before trying out in Metabase.</a:t>
            </a:r>
          </a:p>
          <a:p>
            <a:pPr lvl="1"/>
            <a:r>
              <a:rPr lang="en-US"/>
              <a:t>Just  a final sanity check.</a:t>
            </a:r>
          </a:p>
          <a:p>
            <a:pPr lvl="1"/>
            <a:r>
              <a:rPr lang="en-US"/>
              <a:t>Data successfully loaded.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2171C8-322B-E94A-C014-110C9E464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530" y="1771418"/>
            <a:ext cx="4801270" cy="3315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CEB559-5EE2-2D53-962D-88D4551CD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543651"/>
            <a:ext cx="2343477" cy="657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ABB0DA-C3C9-4B88-A096-17D15F9F3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335905"/>
            <a:ext cx="3217945" cy="11840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ADF5FD-8343-F78A-A5FE-43C9185980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3563" y="5335905"/>
            <a:ext cx="6544588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64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06C857-5358-2F73-BF3E-2BDED8EBC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8481" y="4909003"/>
            <a:ext cx="2105319" cy="110505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EC44E7A-42EF-A5D7-E831-E6A1574D8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US" dirty="0"/>
              <a:t>Metabase Results –  Price Trends Over 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1A6737-4B1A-1D5D-2239-4C7E6D04A231}"/>
              </a:ext>
            </a:extLst>
          </p:cNvPr>
          <p:cNvSpPr txBox="1"/>
          <p:nvPr/>
        </p:nvSpPr>
        <p:spPr>
          <a:xfrm>
            <a:off x="310243" y="1364188"/>
            <a:ext cx="289894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Before Collapse Window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Stock trends aligned with competitors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early signs of divergence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Sharp decline began around collapse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Chart plots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Credit Suisse CS and Deutsche Bank  DB (International POV)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First Republic Bank FRC and Silicon Valley Bank SIVB (Regional POV).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AB20F5-C0D9-D5EB-087F-DB8364E1D74E}"/>
              </a:ext>
            </a:extLst>
          </p:cNvPr>
          <p:cNvSpPr txBox="1"/>
          <p:nvPr/>
        </p:nvSpPr>
        <p:spPr>
          <a:xfrm>
            <a:off x="9248481" y="6027003"/>
            <a:ext cx="21053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Query used in Metabase to create visual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30AD5B-D5D2-3626-3657-47A193500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847" y="947058"/>
            <a:ext cx="8112953" cy="334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01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4CD89-80B8-E881-B7E8-D5B8D59E7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EBA7E-9607-7D23-4A29-6C73E3838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2553"/>
          </a:xfrm>
        </p:spPr>
        <p:txBody>
          <a:bodyPr>
            <a:noAutofit/>
          </a:bodyPr>
          <a:lstStyle/>
          <a:p>
            <a:r>
              <a:rPr lang="en-US" sz="3600" dirty="0"/>
              <a:t>Metabase Results - % Drop During Collapse Window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2849E18-F46E-49B6-8955-A6C085ED1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31867" y="1017678"/>
            <a:ext cx="8313819" cy="3414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915D2A-88E9-E0F1-511E-CE64FCF6D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572" y="4721896"/>
            <a:ext cx="6192114" cy="13051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80845E-22C9-04D1-D080-4664615C6CB7}"/>
              </a:ext>
            </a:extLst>
          </p:cNvPr>
          <p:cNvSpPr txBox="1"/>
          <p:nvPr/>
        </p:nvSpPr>
        <p:spPr>
          <a:xfrm>
            <a:off x="9248481" y="6027003"/>
            <a:ext cx="21053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Query used in Metabase to create visual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3DF84C-7BCF-1063-EE16-DA4DDF4FBBF0}"/>
              </a:ext>
            </a:extLst>
          </p:cNvPr>
          <p:cNvSpPr txBox="1"/>
          <p:nvPr/>
        </p:nvSpPr>
        <p:spPr>
          <a:xfrm>
            <a:off x="538843" y="1502229"/>
            <a:ext cx="289302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Quantifies the Percentage Drop During collapse window of each bank.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SVB has the one of the largest percentage drops.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Possible case of contagion effect from SVB’s collapse.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Calculated by taking percentage change from highest and lowest closing price per ticker.</a:t>
            </a:r>
          </a:p>
        </p:txBody>
      </p:sp>
    </p:spTree>
    <p:extLst>
      <p:ext uri="{BB962C8B-B14F-4D97-AF65-F5344CB8AC3E}">
        <p14:creationId xmlns:p14="http://schemas.microsoft.com/office/powerpoint/2010/main" val="3490861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C931-AF6E-522A-4E3E-AD1BF4F3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78A42-39F9-0C74-6405-20C6B0338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7632"/>
          </a:xfrm>
        </p:spPr>
        <p:txBody>
          <a:bodyPr>
            <a:normAutofit fontScale="90000"/>
          </a:bodyPr>
          <a:lstStyle/>
          <a:p>
            <a:r>
              <a:rPr lang="en-US" dirty="0"/>
              <a:t>Metabase Results – SVB vs VIX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FD0CC3-68BD-E87F-18D7-CCE55F37D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8480" y="4643924"/>
            <a:ext cx="2105319" cy="13813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779483-B9D2-A5FF-A801-651FAB7D3C85}"/>
              </a:ext>
            </a:extLst>
          </p:cNvPr>
          <p:cNvSpPr txBox="1"/>
          <p:nvPr/>
        </p:nvSpPr>
        <p:spPr>
          <a:xfrm>
            <a:off x="9248481" y="6027003"/>
            <a:ext cx="21053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Query used in Metabase to create visual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FADEFB-8B6D-0D83-B764-09719B496E1A}"/>
              </a:ext>
            </a:extLst>
          </p:cNvPr>
          <p:cNvSpPr txBox="1"/>
          <p:nvPr/>
        </p:nvSpPr>
        <p:spPr>
          <a:xfrm>
            <a:off x="375557" y="996043"/>
            <a:ext cx="285750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Chart compares SVB’s stock price to Volatility Index of the market.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As SVB rapidly declines, market volatility stays relatively normal.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Shows that SVB’s collapse was more region/firm specific.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Chart compares SVB’s price to VIX percentage of expected annual volatility.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338F63-7B0F-2B2D-FDD8-03F06719F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597" y="832758"/>
            <a:ext cx="8419935" cy="349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65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8A668-F2F5-F2D1-1376-11842CBC9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BDBA8-1AD0-A4B3-EDB7-2C7CC18E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0289"/>
          </a:xfrm>
        </p:spPr>
        <p:txBody>
          <a:bodyPr>
            <a:normAutofit fontScale="90000"/>
          </a:bodyPr>
          <a:lstStyle/>
          <a:p>
            <a:r>
              <a:rPr lang="en-US" dirty="0"/>
              <a:t>Metabase Results – SVB vs Interest Rates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899D0F-6CDA-9494-3545-5F908B4B8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113" y="4403790"/>
            <a:ext cx="2057687" cy="14575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174EE9-C58C-54E2-C02F-9B01AFDE7E4F}"/>
              </a:ext>
            </a:extLst>
          </p:cNvPr>
          <p:cNvSpPr txBox="1"/>
          <p:nvPr/>
        </p:nvSpPr>
        <p:spPr>
          <a:xfrm>
            <a:off x="9248481" y="6077376"/>
            <a:ext cx="21053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Query used in Metabase to create visual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632B1D-A001-F594-FFCF-B886B53BC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466" y="865414"/>
            <a:ext cx="8054334" cy="33223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3D718C-7868-3F83-1B58-C5A888E4F337}"/>
              </a:ext>
            </a:extLst>
          </p:cNvPr>
          <p:cNvSpPr txBox="1"/>
          <p:nvPr/>
        </p:nvSpPr>
        <p:spPr>
          <a:xfrm>
            <a:off x="408214" y="1110343"/>
            <a:ext cx="2891252" cy="564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Chart compares SVB’s price to federal interest rates over a 5-year period.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Interest rates spike in late 2022 – early 2023.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During that time, SVB’s price plumets.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Shows that SVB could not handle rising interest rates.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Majority of the Bank’s investments were in US Treasury Bonds. (Highly sensitive to interest rates)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039724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8F6AB-5840-29F5-DF51-C4E473F53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54CE-CEA4-DAAA-627A-3B196885C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6618"/>
          </a:xfrm>
        </p:spPr>
        <p:txBody>
          <a:bodyPr>
            <a:noAutofit/>
          </a:bodyPr>
          <a:lstStyle/>
          <a:p>
            <a:r>
              <a:rPr lang="en-US" sz="3600" dirty="0"/>
              <a:t>Metabase Results – Collapse Window Price Trends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84B6122-99E9-D7CA-251B-0638A2AEF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44531" y="881744"/>
            <a:ext cx="7809269" cy="3200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EDA5CD-D266-07AE-1A8F-DAB7F257F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637" y="4629750"/>
            <a:ext cx="3496163" cy="10669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AE8D22-9611-A72B-7ED5-8996B4B42FF9}"/>
              </a:ext>
            </a:extLst>
          </p:cNvPr>
          <p:cNvSpPr txBox="1"/>
          <p:nvPr/>
        </p:nvSpPr>
        <p:spPr>
          <a:xfrm>
            <a:off x="9248481" y="6077375"/>
            <a:ext cx="21053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Query used in Metabase to create visual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C8B99-7816-E772-79DD-68ACA62C19FE}"/>
              </a:ext>
            </a:extLst>
          </p:cNvPr>
          <p:cNvSpPr txBox="1"/>
          <p:nvPr/>
        </p:nvSpPr>
        <p:spPr>
          <a:xfrm>
            <a:off x="293914" y="881744"/>
            <a:ext cx="324392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Chart looks at all 5 banks during Collapse Window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CS, DB (International)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FRC, SBNY, SIVB (Regional)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Shows the magnitude of SVB’s collapse.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Same timeframe of when customers rapidly withdrew funds.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20325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2FACA-685F-C98F-3D92-7118F4F25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C16A1-AFC3-E3D8-4A20-DA9FD5045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0289"/>
          </a:xfrm>
        </p:spPr>
        <p:txBody>
          <a:bodyPr>
            <a:normAutofit fontScale="90000"/>
          </a:bodyPr>
          <a:lstStyle/>
          <a:p>
            <a:r>
              <a:rPr lang="en-US" dirty="0"/>
              <a:t>Metabase Results – Volatility by Ticker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C8E08B-1324-793C-EAF3-A73DBF425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689" y="4527541"/>
            <a:ext cx="3658111" cy="11812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C4B6EC-3C70-839A-12BE-85E85E803A4A}"/>
              </a:ext>
            </a:extLst>
          </p:cNvPr>
          <p:cNvSpPr txBox="1"/>
          <p:nvPr/>
        </p:nvSpPr>
        <p:spPr>
          <a:xfrm>
            <a:off x="9248481" y="6027003"/>
            <a:ext cx="21053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Query used in Metabase to create visual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F8167A-1C00-3D66-12CC-46153D654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637" y="1188558"/>
            <a:ext cx="7340163" cy="30207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BC4F5D-C16E-AE12-CCC7-4CAED2A6AC0E}"/>
              </a:ext>
            </a:extLst>
          </p:cNvPr>
          <p:cNvSpPr txBox="1"/>
          <p:nvPr/>
        </p:nvSpPr>
        <p:spPr>
          <a:xfrm>
            <a:off x="604157" y="1188558"/>
            <a:ext cx="340948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Chart shows Volatility by Ticker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SVB has nearly double the volatility compared to 2</a:t>
            </a:r>
            <a:r>
              <a:rPr lang="en-US" sz="2200" baseline="30000" dirty="0"/>
              <a:t>nd</a:t>
            </a:r>
            <a:r>
              <a:rPr lang="en-US" sz="2200" dirty="0"/>
              <a:t> place (First Republic Bank)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Measures volatility as the standard deviation of the stock’s closing price.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During Collapse Window (March 8th-13th, 2023)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Higher volatility = higher price fluctuation.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39674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5FA83-6C33-4F34-37B8-167C1F9FA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55FA6-DD93-C530-F669-8E05D583A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012"/>
          </a:xfrm>
        </p:spPr>
        <p:txBody>
          <a:bodyPr>
            <a:normAutofit fontScale="90000"/>
          </a:bodyPr>
          <a:lstStyle/>
          <a:p>
            <a:r>
              <a:rPr lang="en-US" dirty="0"/>
              <a:t>Metabase Results – Contagion Focus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92F633-FDE6-8F5A-20B1-4D3CD72FF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584" y="4355132"/>
            <a:ext cx="3515216" cy="12384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3F336A-A7B8-96B0-7656-1E47989D771D}"/>
              </a:ext>
            </a:extLst>
          </p:cNvPr>
          <p:cNvSpPr txBox="1"/>
          <p:nvPr/>
        </p:nvSpPr>
        <p:spPr>
          <a:xfrm>
            <a:off x="9248481" y="6010862"/>
            <a:ext cx="21053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Query used in Metabase to create visual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EB5C7B-F3FD-8005-3DBC-03A659A42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714" y="847139"/>
            <a:ext cx="8088086" cy="33591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2CF51B-4412-AFB1-088B-9AD3FFEDC9E0}"/>
              </a:ext>
            </a:extLst>
          </p:cNvPr>
          <p:cNvSpPr txBox="1"/>
          <p:nvPr/>
        </p:nvSpPr>
        <p:spPr>
          <a:xfrm>
            <a:off x="424543" y="1094014"/>
            <a:ext cx="28411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chart compares banks regional to Silicon Valley Bank.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Signature Bank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First Republic Bank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decreases in FRC and SBNY as SVB drops.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Could be multiple things: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Reactions to interest rates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Investors losing confidence and pulling funds as SVB collapsed.</a:t>
            </a:r>
          </a:p>
        </p:txBody>
      </p:sp>
    </p:spTree>
    <p:extLst>
      <p:ext uri="{BB962C8B-B14F-4D97-AF65-F5344CB8AC3E}">
        <p14:creationId xmlns:p14="http://schemas.microsoft.com/office/powerpoint/2010/main" val="3405576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F6702-FBAB-5B83-4AE1-73ABA501C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12A76-6635-E137-5095-51A88CE10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SVB’s collapse was driven by:</a:t>
            </a:r>
          </a:p>
          <a:p>
            <a:pPr lvl="1"/>
            <a:r>
              <a:rPr lang="en-US" sz="2000" dirty="0"/>
              <a:t>Interest Rate Exposure </a:t>
            </a:r>
          </a:p>
          <a:p>
            <a:pPr lvl="1"/>
            <a:r>
              <a:rPr lang="en-US" sz="2000" dirty="0"/>
              <a:t>Liquidity Risk</a:t>
            </a:r>
          </a:p>
          <a:p>
            <a:pPr lvl="1"/>
            <a:r>
              <a:rPr lang="en-US" sz="2000" dirty="0"/>
              <a:t>Loss of investor/customer confidence</a:t>
            </a:r>
          </a:p>
          <a:p>
            <a:r>
              <a:rPr lang="en-US" sz="2400" dirty="0"/>
              <a:t>SVB’s example demonstrates how quickly instability can spread in banking</a:t>
            </a:r>
          </a:p>
          <a:p>
            <a:r>
              <a:rPr lang="en-US" sz="2400" dirty="0"/>
              <a:t>Highlights the importance of proactive risk management.</a:t>
            </a:r>
          </a:p>
        </p:txBody>
      </p:sp>
    </p:spTree>
    <p:extLst>
      <p:ext uri="{BB962C8B-B14F-4D97-AF65-F5344CB8AC3E}">
        <p14:creationId xmlns:p14="http://schemas.microsoft.com/office/powerpoint/2010/main" val="268028317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2931</TotalTime>
  <Words>1233</Words>
  <Application>Microsoft Office PowerPoint</Application>
  <PresentationFormat>Widescreen</PresentationFormat>
  <Paragraphs>143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Trebuchet MS</vt:lpstr>
      <vt:lpstr>Wingdings 3</vt:lpstr>
      <vt:lpstr>Facet</vt:lpstr>
      <vt:lpstr>Data Driven Analysis of The Silicon Valley Bank Collapse</vt:lpstr>
      <vt:lpstr>Project Overview</vt:lpstr>
      <vt:lpstr>Company Background/Predetermined Risk</vt:lpstr>
      <vt:lpstr>Project Flow – After Finding Stock/Market Data</vt:lpstr>
      <vt:lpstr>Python – Docker/Metabase Setup</vt:lpstr>
      <vt:lpstr>Python – Data Cleaning</vt:lpstr>
      <vt:lpstr>Python – Data Cleaning</vt:lpstr>
      <vt:lpstr>Python – PostgreSQL</vt:lpstr>
      <vt:lpstr>Python – PostgreSQL</vt:lpstr>
      <vt:lpstr>DataGrip – Data/Sanity Check</vt:lpstr>
      <vt:lpstr>Metabase Results –  Price Trends Over Time</vt:lpstr>
      <vt:lpstr>Metabase Results - % Drop During Collapse Window</vt:lpstr>
      <vt:lpstr>Metabase Results – SVB vs VIX </vt:lpstr>
      <vt:lpstr>Metabase Results – SVB vs Interest Rates </vt:lpstr>
      <vt:lpstr>Metabase Results – Collapse Window Price Trends</vt:lpstr>
      <vt:lpstr>Metabase Results – Volatility by Ticker</vt:lpstr>
      <vt:lpstr>Metabase Results – Contagion Focus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Meckes, Cody R</dc:creator>
  <cp:lastModifiedBy>Meckes, Cody R</cp:lastModifiedBy>
  <cp:revision>46</cp:revision>
  <dcterms:created xsi:type="dcterms:W3CDTF">2026-04-26T18:31:23Z</dcterms:created>
  <dcterms:modified xsi:type="dcterms:W3CDTF">2026-05-06T12:46:57Z</dcterms:modified>
</cp:coreProperties>
</file>